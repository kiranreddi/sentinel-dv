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7" r:id="rId18"/>
    <p:sldId id="261" r:id="rId12"/>
    <p:sldId id="262" r:id="rId13"/>
    <p:sldId id="263" r:id="rId14"/>
    <p:sldId id="266" r:id="rId17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🛡 SENTINEL DV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694A2"/>
                </a:solidFill>
              </a:rPr>
              <a:t>An Open-Source MCP Server for AI-Assisted Design Verification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3F4F6"/>
                </a:solidFill>
              </a:rPr>
              <a:t>DVCon USA / DAC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840480"/>
            <a:ext cx="219456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3F4F6"/>
                </a:solidFill>
              </a:rPr>
              <a:t>MCP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3840480"/>
            <a:ext cx="219456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39319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3F4F6"/>
                </a:solidFill>
              </a:rPr>
              <a:t>Simulators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3840480"/>
            <a:ext cx="219456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39319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1,477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3F4F6"/>
                </a:solidFill>
              </a:rPr>
              <a:t>CI Runs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32520" y="3840480"/>
            <a:ext cx="219456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20" y="39319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Apache 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3F4F6"/>
                </a:solidFill>
              </a:rPr>
              <a:t>License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</a:rPr>
              <a:t>github.com/kiranreddi/sentinel-dv  ·  pip install sentinel-dv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DV Toolchain Fragmentation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85800"/>
            <a:ext cx="5486400" cy="5029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02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02424"/>
                </a:solidFill>
              </a:rPr>
              <a:t>Today's 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⚠  10,000s of simulation logs — no unified query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⚠  Coverage databases locked in proprietary formats (VDB, UCDB)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⚠  UVM failures scattered across VCS, Questa, Xcelium, and Verilator 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⚠  Manual log triage consumes hours per regression 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062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⚠  LLMs (Claude, GPT-4, Copilot) have NO interface to sim artifacts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685800"/>
            <a:ext cx="5669280" cy="5029200"/>
          </a:xfrm>
          <a:prstGeom prst="rect">
            <a:avLst/>
          </a:prstGeom>
          <a:solidFill>
            <a:srgbClr val="F3F4F6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822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56DB"/>
                </a:solidFill>
              </a:rPr>
              <a:t>Artifact Silos (No AI Interface)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3258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UVM logs (.log)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325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grep / Perl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65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VDB / UCDB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965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Verdi / Questa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060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Assertion 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60603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manual parse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46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JUnit XML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246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Jenkins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8862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VCD waveforms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886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GTKWave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526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Regression logs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526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spreadsheet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3035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2424"/>
                </a:solidFill>
              </a:rPr>
              <a:t>None expose a query API suitable for AI reasoning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Model Context Protocol — Connecting AI to EDA Artifacts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85800"/>
            <a:ext cx="5303520" cy="5303520"/>
          </a:xfrm>
          <a:prstGeom prst="rect">
            <a:avLst/>
          </a:prstGeom>
          <a:solidFill>
            <a:srgbClr val="F3F4F6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56DB"/>
                </a:solidFill>
              </a:rPr>
              <a:t>What is MCP?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• Open standard by Anthropic (Nov 2024)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• JSON-RPC 2.0 over stdio or SSE transport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• AI client discovers + calls server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• Adopted: Claude, GPT-4o, VS Code Copilot, Cursor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118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• Zero AI code changes — just plug in the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94A2"/>
                </a:solidFill>
              </a:rPr>
              <a:t>Why MCP for DV?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519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• Sim artifacts → structured tool responses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63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• AI reasons over YOUR regression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74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• Path redaction — no PII in responses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486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• Pydantic-validated output schemas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685800"/>
            <a:ext cx="5943600" cy="5303520"/>
          </a:xfrm>
          <a:prstGeom prst="rect">
            <a:avLst/>
          </a:prstGeom>
          <a:solidFill>
            <a:srgbClr val="111827"/>
          </a:solidFill>
          <a:ln w="12700">
            <a:solidFill>
              <a:srgbClr val="069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8229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94A2"/>
                </a:solidFill>
              </a:rPr>
              <a:t>MCP JSON-RPC 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23444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94A2"/>
                </a:solidFill>
              </a:rPr>
              <a:t>{
  "method": "tools/call",
  "params": {
    "name": "regression.health",
    "arguments": {}
  }
}
→ Returns:
{
  "health_score": 77.5,
  "band": "minor-issues",
  "grade": "B+",
  "recommendations": [
    "Coverage below 75% target",
    "3 flaky tests found"
  ]
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Sentinel DV — System Architecture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1124712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28 MCP Tools — Six Categories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85800"/>
            <a:ext cx="3794760" cy="2651760"/>
          </a:xfrm>
          <a:prstGeom prst="rect">
            <a:avLst/>
          </a:prstGeom>
          <a:solidFill>
            <a:srgbClr val="F3F4F6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56DB"/>
                </a:solidFill>
              </a:rPr>
              <a:t>📊 Run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143000"/>
            <a:ext cx="3520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runs.list · runs.get · runs.summary
runs.diff · runs.cross_sim★
runs.submit† (dry-run cmd)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59" y="685800"/>
            <a:ext cx="3794760" cy="2651760"/>
          </a:xfrm>
          <a:prstGeom prst="rect">
            <a:avLst/>
          </a:prstGeom>
          <a:solidFill>
            <a:srgbClr val="F3F4F6"/>
          </a:solidFill>
          <a:ln w="12700">
            <a:solidFill>
              <a:srgbClr val="069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399" y="73152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94A2"/>
                </a:solidFill>
              </a:rPr>
              <a:t>🧪 Test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143000"/>
            <a:ext cx="3520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tests.list · tests.get · tests.history
tests.topology · tests.cluster★
tests.replay† (dry-run cmd)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685800"/>
            <a:ext cx="3794760" cy="2651760"/>
          </a:xfrm>
          <a:prstGeom prst="rect">
            <a:avLst/>
          </a:prstGeom>
          <a:solidFill>
            <a:srgbClr val="F3F4F6"/>
          </a:solidFill>
          <a:ln w="1270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73152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57A55"/>
                </a:solidFill>
              </a:rPr>
              <a:t>🛡 Assertions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143000"/>
            <a:ext cx="3520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assertions.list · .get
.failures · .sva_status
.vacuity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566160"/>
            <a:ext cx="3794760" cy="2651760"/>
          </a:xfrm>
          <a:prstGeom prst="rect">
            <a:avLst/>
          </a:prstGeom>
          <a:solidFill>
            <a:srgbClr val="F3F4F6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611879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56DB"/>
                </a:solidFill>
              </a:rPr>
              <a:t>📈 Coverage Intel.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4023360"/>
            <a:ext cx="3520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coverage.list · .summary
.trend · .gaps
.advisor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3566160"/>
            <a:ext cx="3794760" cy="2651760"/>
          </a:xfrm>
          <a:prstGeom prst="rect">
            <a:avLst/>
          </a:prstGeom>
          <a:solidFill>
            <a:srgbClr val="F3F4F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399" y="3611879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97706"/>
                </a:solidFill>
              </a:rPr>
              <a:t>🐛 Failure Triage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023360"/>
            <a:ext cx="3520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failures.list
regressions.summary
regression.health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566160"/>
            <a:ext cx="3794760" cy="2651760"/>
          </a:xfrm>
          <a:prstGeom prst="rect">
            <a:avLst/>
          </a:prstGeom>
          <a:solidFill>
            <a:srgbClr val="F3F4F6"/>
          </a:solidFill>
          <a:ln w="12700">
            <a:solidFill>
              <a:srgbClr val="069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611879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94A2"/>
                </a:solidFill>
              </a:rPr>
              <a:t>🌊 Live Run &amp; Waveforms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023360"/>
            <a:ext cx="3520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sim.status (live_status.json)
wave.signals
wave.summary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Coverage HTML Parsers — No Database Access Required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85800"/>
            <a:ext cx="5303520" cy="5303520"/>
          </a:xfrm>
          <a:prstGeom prst="rect">
            <a:avLst/>
          </a:prstGeom>
          <a:solidFill>
            <a:srgbClr val="F3F4F6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56DB"/>
                </a:solidFill>
              </a:rPr>
              <a:t>VCS URG dashboard.html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• Generated by urg -report command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• Content-sniff: 'Total Coverage Summary'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• Extracts: SCORE, LINE, TOGGLE, ASSERT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• Also parses Verification Plan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290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• Zero access to simv.vdb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794760"/>
            <a:ext cx="5303520" cy="2103120"/>
          </a:xfrm>
          <a:prstGeom prst="rect">
            <a:avLst/>
          </a:prstGeom>
          <a:solidFill>
            <a:srgbClr val="111827"/>
          </a:solidFill>
          <a:ln w="12700">
            <a:solidFill>
              <a:srgbClr val="069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94A2"/>
                </a:solidFill>
              </a:rPr>
              <a:t>Questa vcover overalldu.js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4340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3F4F6"/>
                </a:solidFill>
              </a:rPr>
              <a:t>Single-line JS — balanced-brace scanner
Extracts: stmt, branch, toggle, assert,
functional, total, hit/total counts</a:t>
            </a:r>
          </a:p>
        </p:txBody>
      </p:sp>
      <p:pic>
        <p:nvPicPr>
          <p:cNvPr id="14" name="Picture 13" descr="tools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685800"/>
            <a:ext cx="59436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DV Intelligence — Regression Health Score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85800"/>
            <a:ext cx="1161288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069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694A2"/>
                </a:solidFill>
              </a:rPr>
              <a:t>H = 0.30×PassRate + 0.35×Coverage + 0.15×Assertions + 0.10×Flakiness⁻¹ + 0.10×CrossSim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2743200" cy="100584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≥ 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9202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sign-off-ready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508760"/>
            <a:ext cx="27432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≥ 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9202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minor-issues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508760"/>
            <a:ext cx="27432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≥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9202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coverage-gaps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1508760"/>
            <a:ext cx="2743200" cy="1005840"/>
          </a:xfrm>
          <a:prstGeom prst="rect">
            <a:avLst/>
          </a:prstGeom>
          <a:solidFill>
            <a:srgbClr val="E0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&lt; 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9202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not-ready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697480"/>
            <a:ext cx="1161288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7889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56DB"/>
                </a:solidFill>
              </a:rPr>
              <a:t>regression.health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200400"/>
            <a:ext cx="11247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94A2"/>
                </a:solidFill>
              </a:rPr>
              <a:t>{
  "health_score": 77.5,
  "band": "minor-issues",
  "grade": "B+",
  "components": {
    "pass_rate": 94.2,   "coverage": 51.3,
    "assertions": 100.0, "flakiness": 98.1,  "cross_sim": 87.5
  },
  "recommendations": ["Coverage below 75% target (51.3%)", "3 tests flaky across sims"]
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Validation Results — 1,477 Real CI Runs Across 6 Projects</a:t>
            </a:r>
          </a:p>
        </p:txBody>
      </p:sp>
      <p:pic>
        <p:nvPicPr>
          <p:cNvPr id="4" name="Picture 3" descr="validation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6400800" cy="53035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132320" y="777240"/>
            <a:ext cx="466344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0" y="8229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1,477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86868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CI Runs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920240"/>
            <a:ext cx="4663440" cy="1005840"/>
          </a:xfrm>
          <a:prstGeom prst="rect">
            <a:avLst/>
          </a:prstGeom>
          <a:solidFill>
            <a:srgbClr val="E0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0" y="19659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4,814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01168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Failures
Classified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3063240"/>
            <a:ext cx="4663440" cy="100584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31089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315468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Coverage
Reports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4206240"/>
            <a:ext cx="4663440" cy="1005840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4251959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22/28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4297679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Tools Validated
0 wrong outputs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5349240"/>
            <a:ext cx="466344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5394959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191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5440679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Unit Tests
Passing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Installation &amp; Quick Start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31520"/>
            <a:ext cx="5669280" cy="2560320"/>
          </a:xfrm>
          <a:prstGeom prst="rect">
            <a:avLst/>
          </a:prstGeom>
          <a:solidFill>
            <a:srgbClr val="F3F4F6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56DB"/>
                </a:solidFill>
              </a:rPr>
              <a:t>1  Install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577840" cy="20116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23444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94A2"/>
                </a:solidFill>
              </a:rPr>
              <a:t>pip install sentinel-dv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731520"/>
            <a:ext cx="5669280" cy="2560320"/>
          </a:xfrm>
          <a:prstGeom prst="rect">
            <a:avLst/>
          </a:prstGeom>
          <a:solidFill>
            <a:srgbClr val="F3F4F6"/>
          </a:solidFill>
          <a:ln w="12700">
            <a:solidFill>
              <a:srgbClr val="069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59" y="8229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94A2"/>
                </a:solidFill>
              </a:rPr>
              <a:t>2  Configure sentinel_dv.yaml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188720"/>
            <a:ext cx="5577840" cy="20116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23444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94A2"/>
                </a:solidFill>
              </a:rPr>
              <a:t>artifact_roots:
  - /path/to/sim/logs
  - /path/to/coverage/report
db_path: ./sentinel_dv.db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566160"/>
            <a:ext cx="5669280" cy="2560320"/>
          </a:xfrm>
          <a:prstGeom prst="rect">
            <a:avLst/>
          </a:prstGeom>
          <a:solidFill>
            <a:srgbClr val="F3F4F6"/>
          </a:solidFill>
          <a:ln w="1270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6576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57A55"/>
                </a:solidFill>
              </a:rPr>
              <a:t>3  Start server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23360"/>
            <a:ext cx="5577840" cy="20116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406908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94A2"/>
                </a:solidFill>
              </a:rPr>
              <a:t>sentinel-dv serve --config sentinel_dv.yaml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566160"/>
            <a:ext cx="5669280" cy="2560320"/>
          </a:xfrm>
          <a:prstGeom prst="rect">
            <a:avLst/>
          </a:prstGeom>
          <a:solidFill>
            <a:srgbClr val="F3F4F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36576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</a:rPr>
              <a:t>4  Connect AI client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4023360"/>
            <a:ext cx="5577840" cy="20116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406908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94A2"/>
                </a:solidFill>
              </a:rPr>
              <a:t>{
  "mcpServers": {
    "sentinel-dv": {
      "command": "sentinel-dv",
      "args": ["serve","--config","sentinel_dv.yaml"]
    }
  }
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14400"/>
            <a:ext cx="3383280" cy="17373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28 MCP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3F4F6"/>
                </a:solidFill>
              </a:rPr>
              <a:t>Full DV workflow covered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914400"/>
            <a:ext cx="3383280" cy="17373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79" y="10515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 Simulators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79" y="17373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3F4F6"/>
                </a:solidFill>
              </a:rPr>
              <a:t>VCS · Questa · Xcelium · Verilator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914400"/>
            <a:ext cx="3383280" cy="17373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10515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1,477 Runs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17373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3F4F6"/>
                </a:solidFill>
              </a:rPr>
              <a:t>Production validated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26080"/>
            <a:ext cx="3383280" cy="17373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632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73%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490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3F4F6"/>
                </a:solidFill>
              </a:rPr>
              <a:t>False-positive reduction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79" y="2926080"/>
            <a:ext cx="3383280" cy="17373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79" y="30632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191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79" y="37490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3F4F6"/>
                </a:solidFill>
              </a:rPr>
              <a:t>All green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19" y="2926080"/>
            <a:ext cx="3383280" cy="17373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30632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Apache 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37490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3F4F6"/>
                </a:solidFill>
              </a:rPr>
              <a:t>Open source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30936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694A2"/>
                </a:solidFill>
              </a:rPr>
              <a:t>github.com/kiranreddi/sentinel-dv  ·  pip install sentinel-dv  ·  ⭐ Stars Welcome!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The Headline: 73% Fewer False Positives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167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VCS appends a count-summary line to every log:  UVM_ERROR :    0</a:t>
            </a:r>
          </a:p>
          <a:p>
            <a:pPr>
              <a:defRPr sz="2000"/>
            </a:pPr>
            <a:r>
              <a:t>Parse it naively and every clean run looks like it failed.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Before count-summary filter:   16,240 "errors" across the VCS corpus</a:t>
            </a:r>
          </a:p>
          <a:p>
            <a:pPr>
              <a:defRPr sz="2000"/>
            </a:pPr>
            <a:r>
              <a:t>After count-summary skip:        4,380 genuine failures</a:t>
            </a:r>
          </a:p>
          <a:p>
            <a:pPr>
              <a:defRPr sz="2000"/>
            </a:pPr>
            <a:r>
              <a:t>= 73% reduction, matching hand-labeled ground truth.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One regex is the difference between a usable triage tool and noise.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What the Engineer Actually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167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Ask Claude:  "Why did axi4_stress_test fail in the latest regression?"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Behind the scenes — 3 MCP tool calls:</a:t>
            </a:r>
          </a:p>
          <a:p>
            <a:pPr>
              <a:defRPr sz="2000"/>
            </a:pPr>
            <a:r>
              <a:t>   1. tests.list      -&gt; locate the failing test and its run</a:t>
            </a:r>
          </a:p>
          <a:p>
            <a:pPr>
              <a:defRPr sz="2000"/>
            </a:pPr>
            <a:r>
              <a:t>   2. tests.get       -&gt; log excerpt + failure signature</a:t>
            </a:r>
          </a:p>
          <a:p>
            <a:pPr>
              <a:defRPr sz="2000"/>
            </a:pPr>
            <a:r>
              <a:t>   3. runs.cross_sim  -&gt; passes on VCS/Xcelium, fails on Questa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Answer in seconds: seed-sensitive X-propagation, not an RTL bug.</a:t>
            </a:r>
          </a:p>
          <a:p>
            <a:pPr>
              <a:defRPr sz="2000"/>
            </a:pPr>
            <a:r>
              <a:t>No grep, no Verdi, no spreadsheet.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